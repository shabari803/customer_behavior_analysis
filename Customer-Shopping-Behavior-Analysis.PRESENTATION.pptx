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75000</c:v>
                </c:pt>
                <c:pt idx="1">
                  <c:v>130000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55000</c:v>
                </c:pt>
                <c:pt idx="1">
                  <c:v>47000</c:v>
                </c:pt>
                <c:pt idx="2">
                  <c:v>42000</c:v>
                </c:pt>
                <c:pt idx="3">
                  <c:v>45000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E5E5E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Subscribers</c:v>
                </c:pt>
                <c:pt idx="1">
                  <c:v>Non-subscribers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</c:v>
                </c:pt>
                <c:pt idx="1">
                  <c:v>73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3840480" cy="384048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754880"/>
            <a:ext cx="2743200" cy="274320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_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93268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SHOPPING BEHAVIOR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purchases  •  18 features  •  Goal: spending, segments, preferences, subscriptions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50292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120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3,900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5669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50292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291840" y="5120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291840" y="5669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50292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760720" y="5120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760720" y="5669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Snapshot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Rows &amp; Columns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3,900 × 18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14884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groups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00600" y="4023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purchase details, behavior, shipping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182880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1488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Missing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3337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37 values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686800" y="4023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 Review Rating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525780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5257800"/>
            <a:ext cx="5943600" cy="365760"/>
          </a:xfrm>
          <a:prstGeom prst="roundRect">
            <a:avLst>
              <a:gd name="adj" fmla="val 20000"/>
            </a:avLst>
          </a:prstGeom>
          <a:solidFill>
            <a:srgbClr val="2F3C7E"/>
          </a:solidFill>
          <a:ln/>
        </p:spPr>
      </p:sp>
      <p:sp>
        <p:nvSpPr>
          <p:cNvPr id="23" name="Shape 21"/>
          <p:cNvSpPr/>
          <p:nvPr/>
        </p:nvSpPr>
        <p:spPr>
          <a:xfrm>
            <a:off x="3108960" y="5440680"/>
            <a:ext cx="5943600" cy="1828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4" name="Shape 22"/>
          <p:cNvSpPr/>
          <p:nvPr/>
        </p:nvSpPr>
        <p:spPr>
          <a:xfrm>
            <a:off x="3273552" y="53766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9584" y="5376672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6" name="Shape 24"/>
          <p:cNvSpPr/>
          <p:nvPr/>
        </p:nvSpPr>
        <p:spPr>
          <a:xfrm>
            <a:off x="3785616" y="5376672"/>
            <a:ext cx="128016" cy="128016"/>
          </a:xfrm>
          <a:prstGeom prst="ellipse">
            <a:avLst/>
          </a:prstGeom>
          <a:solidFill>
            <a:srgbClr val="8FA3D9"/>
          </a:solidFill>
          <a:ln/>
        </p:spPr>
      </p:sp>
      <p:sp>
        <p:nvSpPr>
          <p:cNvPr id="27" name="Shape 25"/>
          <p:cNvSpPr/>
          <p:nvPr/>
        </p:nvSpPr>
        <p:spPr>
          <a:xfrm>
            <a:off x="3273552" y="5806440"/>
            <a:ext cx="1122883" cy="164592"/>
          </a:xfrm>
          <a:prstGeom prst="rect">
            <a:avLst/>
          </a:prstGeom>
          <a:solidFill>
            <a:srgbClr val="E9ECF7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96435" y="5806440"/>
            <a:ext cx="1122883" cy="164592"/>
          </a:xfrm>
          <a:prstGeom prst="rect">
            <a:avLst/>
          </a:prstGeom>
          <a:solidFill>
            <a:srgbClr val="E9ECF7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19318" y="5806440"/>
            <a:ext cx="1122883" cy="164592"/>
          </a:xfrm>
          <a:prstGeom prst="rect">
            <a:avLst/>
          </a:prstGeom>
          <a:solidFill>
            <a:srgbClr val="E9ECF7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2202" y="5806440"/>
            <a:ext cx="1122883" cy="164592"/>
          </a:xfrm>
          <a:prstGeom prst="rect">
            <a:avLst/>
          </a:prstGeom>
          <a:solidFill>
            <a:srgbClr val="E9ECF7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65085" y="5806440"/>
            <a:ext cx="1122883" cy="164592"/>
          </a:xfrm>
          <a:prstGeom prst="rect">
            <a:avLst/>
          </a:prstGeom>
          <a:solidFill>
            <a:srgbClr val="E9ECF7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5971032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6435" y="5971032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9318" y="5971032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42202" y="5971032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65085" y="5971032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3552" y="6135624"/>
            <a:ext cx="1122883" cy="164592"/>
          </a:xfrm>
          <a:prstGeom prst="rect">
            <a:avLst/>
          </a:prstGeom>
          <a:solidFill>
            <a:srgbClr val="FAFAFA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96435" y="6135624"/>
            <a:ext cx="1122883" cy="164592"/>
          </a:xfrm>
          <a:prstGeom prst="rect">
            <a:avLst/>
          </a:prstGeom>
          <a:solidFill>
            <a:srgbClr val="FAFAFA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19318" y="6135624"/>
            <a:ext cx="1122883" cy="164592"/>
          </a:xfrm>
          <a:prstGeom prst="rect">
            <a:avLst/>
          </a:prstGeom>
          <a:solidFill>
            <a:srgbClr val="FAFAFA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42202" y="6135624"/>
            <a:ext cx="1122883" cy="164592"/>
          </a:xfrm>
          <a:prstGeom prst="rect">
            <a:avLst/>
          </a:prstGeom>
          <a:solidFill>
            <a:srgbClr val="FAFAFA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65085" y="6135624"/>
            <a:ext cx="1122883" cy="164592"/>
          </a:xfrm>
          <a:prstGeom prst="rect">
            <a:avLst/>
          </a:prstGeom>
          <a:solidFill>
            <a:srgbClr val="FAFAFA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73552" y="6300216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96435" y="6300216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19318" y="6300216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42202" y="6300216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65085" y="6300216"/>
            <a:ext cx="1122883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0" y="4983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structure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11480"/>
            <a:ext cx="914400" cy="9144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" name="Image 0" descr="icon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727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EDA &amp; Preparation (Python)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BF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847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Load &amp; Inspect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0" y="184708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df.info(), .describe()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20040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37360" y="30815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Impute Ratings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69280" y="308152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by product category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206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BF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43484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434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73736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Standardize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69280" y="431596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 to snake_case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54406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566928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669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737360" y="5550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669280" y="5550408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age_group, purchase_frequency_days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 Integration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(pandas)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83280" y="2514600"/>
            <a:ext cx="73152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4297680" y="210312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2103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2514600"/>
            <a:ext cx="73152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210312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9E795"/>
          </a:solidFill>
          <a:ln/>
        </p:spPr>
      </p:sp>
      <p:pic>
        <p:nvPicPr>
          <p:cNvPr id="10" name="Image 0" descr="icon_mysq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33172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0" y="21031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Cleaned DataFrame loaded into MySQL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4480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promo_code_used (redundant)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SQL analyses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509760" y="4114800"/>
            <a:ext cx="1737360" cy="2286000"/>
          </a:xfrm>
          <a:prstGeom prst="roundRect">
            <a:avLst>
              <a:gd name="adj" fmla="val 4211"/>
            </a:avLst>
          </a:prstGeom>
          <a:solidFill>
            <a:srgbClr val="1B235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619488" y="4224528"/>
            <a:ext cx="1517904" cy="358445"/>
          </a:xfrm>
          <a:prstGeom prst="rect">
            <a:avLst/>
          </a:prstGeom>
          <a:solidFill>
            <a:srgbClr val="2B366E"/>
          </a:solidFill>
          <a:ln/>
        </p:spPr>
      </p:sp>
      <p:sp>
        <p:nvSpPr>
          <p:cNvPr id="16" name="Shape 13"/>
          <p:cNvSpPr/>
          <p:nvPr/>
        </p:nvSpPr>
        <p:spPr>
          <a:xfrm>
            <a:off x="10991088" y="4362602"/>
            <a:ext cx="82296" cy="8229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7" name="Shape 14"/>
          <p:cNvSpPr/>
          <p:nvPr/>
        </p:nvSpPr>
        <p:spPr>
          <a:xfrm>
            <a:off x="9729216" y="4394606"/>
            <a:ext cx="457200" cy="18288"/>
          </a:xfrm>
          <a:prstGeom prst="rect">
            <a:avLst/>
          </a:prstGeom>
          <a:solidFill>
            <a:srgbClr val="4C5896"/>
          </a:solidFill>
          <a:ln/>
        </p:spPr>
      </p:sp>
      <p:sp>
        <p:nvSpPr>
          <p:cNvPr id="18" name="Shape 15"/>
          <p:cNvSpPr/>
          <p:nvPr/>
        </p:nvSpPr>
        <p:spPr>
          <a:xfrm>
            <a:off x="9619488" y="4637837"/>
            <a:ext cx="1517904" cy="358445"/>
          </a:xfrm>
          <a:prstGeom prst="rect">
            <a:avLst/>
          </a:prstGeom>
          <a:solidFill>
            <a:srgbClr val="2B366E"/>
          </a:solidFill>
          <a:ln/>
        </p:spPr>
      </p:sp>
      <p:sp>
        <p:nvSpPr>
          <p:cNvPr id="19" name="Shape 16"/>
          <p:cNvSpPr/>
          <p:nvPr/>
        </p:nvSpPr>
        <p:spPr>
          <a:xfrm>
            <a:off x="10991088" y="4775911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Shape 17"/>
          <p:cNvSpPr/>
          <p:nvPr/>
        </p:nvSpPr>
        <p:spPr>
          <a:xfrm>
            <a:off x="9729216" y="4807915"/>
            <a:ext cx="457200" cy="18288"/>
          </a:xfrm>
          <a:prstGeom prst="rect">
            <a:avLst/>
          </a:prstGeom>
          <a:solidFill>
            <a:srgbClr val="4C5896"/>
          </a:solidFill>
          <a:ln/>
        </p:spPr>
      </p:sp>
      <p:sp>
        <p:nvSpPr>
          <p:cNvPr id="21" name="Shape 18"/>
          <p:cNvSpPr/>
          <p:nvPr/>
        </p:nvSpPr>
        <p:spPr>
          <a:xfrm>
            <a:off x="9619488" y="5051146"/>
            <a:ext cx="1517904" cy="358445"/>
          </a:xfrm>
          <a:prstGeom prst="rect">
            <a:avLst/>
          </a:prstGeom>
          <a:solidFill>
            <a:srgbClr val="2B366E"/>
          </a:solidFill>
          <a:ln/>
        </p:spPr>
      </p:sp>
      <p:sp>
        <p:nvSpPr>
          <p:cNvPr id="22" name="Shape 19"/>
          <p:cNvSpPr/>
          <p:nvPr/>
        </p:nvSpPr>
        <p:spPr>
          <a:xfrm>
            <a:off x="10991088" y="5189220"/>
            <a:ext cx="82296" cy="8229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3" name="Shape 20"/>
          <p:cNvSpPr/>
          <p:nvPr/>
        </p:nvSpPr>
        <p:spPr>
          <a:xfrm>
            <a:off x="9729216" y="5221224"/>
            <a:ext cx="457200" cy="18288"/>
          </a:xfrm>
          <a:prstGeom prst="rect">
            <a:avLst/>
          </a:prstGeom>
          <a:solidFill>
            <a:srgbClr val="4C5896"/>
          </a:solidFill>
          <a:ln/>
        </p:spPr>
      </p:sp>
      <p:sp>
        <p:nvSpPr>
          <p:cNvPr id="24" name="Shape 21"/>
          <p:cNvSpPr/>
          <p:nvPr/>
        </p:nvSpPr>
        <p:spPr>
          <a:xfrm>
            <a:off x="9619488" y="5464454"/>
            <a:ext cx="1517904" cy="358445"/>
          </a:xfrm>
          <a:prstGeom prst="rect">
            <a:avLst/>
          </a:prstGeom>
          <a:solidFill>
            <a:srgbClr val="2B366E"/>
          </a:solidFill>
          <a:ln/>
        </p:spPr>
      </p:sp>
      <p:sp>
        <p:nvSpPr>
          <p:cNvPr id="25" name="Shape 22"/>
          <p:cNvSpPr/>
          <p:nvPr/>
        </p:nvSpPr>
        <p:spPr>
          <a:xfrm>
            <a:off x="10991088" y="5602529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Shape 23"/>
          <p:cNvSpPr/>
          <p:nvPr/>
        </p:nvSpPr>
        <p:spPr>
          <a:xfrm>
            <a:off x="9729216" y="5634533"/>
            <a:ext cx="457200" cy="18288"/>
          </a:xfrm>
          <a:prstGeom prst="rect">
            <a:avLst/>
          </a:prstGeom>
          <a:solidFill>
            <a:srgbClr val="4C5896"/>
          </a:solidFill>
          <a:ln/>
        </p:spPr>
      </p:sp>
      <p:sp>
        <p:nvSpPr>
          <p:cNvPr id="27" name="Shape 24"/>
          <p:cNvSpPr/>
          <p:nvPr/>
        </p:nvSpPr>
        <p:spPr>
          <a:xfrm>
            <a:off x="9619488" y="5877763"/>
            <a:ext cx="1517904" cy="358445"/>
          </a:xfrm>
          <a:prstGeom prst="rect">
            <a:avLst/>
          </a:prstGeom>
          <a:solidFill>
            <a:srgbClr val="2B366E"/>
          </a:solidFill>
          <a:ln/>
        </p:spPr>
      </p:sp>
      <p:sp>
        <p:nvSpPr>
          <p:cNvPr id="28" name="Shape 25"/>
          <p:cNvSpPr/>
          <p:nvPr/>
        </p:nvSpPr>
        <p:spPr>
          <a:xfrm>
            <a:off x="10991088" y="6015838"/>
            <a:ext cx="82296" cy="8229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9" name="Shape 26"/>
          <p:cNvSpPr/>
          <p:nvPr/>
        </p:nvSpPr>
        <p:spPr>
          <a:xfrm>
            <a:off x="9729216" y="6047842"/>
            <a:ext cx="457200" cy="18288"/>
          </a:xfrm>
          <a:prstGeom prst="rect">
            <a:avLst/>
          </a:prstGeom>
          <a:solidFill>
            <a:srgbClr val="4C5896"/>
          </a:solidFill>
          <a:ln/>
        </p:spPr>
      </p:sp>
      <p:sp>
        <p:nvSpPr>
          <p:cNvPr id="30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by Gender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394960" y="502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" name="Image 0" descr="icon_m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3832" y="621792"/>
            <a:ext cx="265176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502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1" descr="icon_ven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621792"/>
            <a:ext cx="265176" cy="265176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640080" y="155448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74066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Male revenue notably higher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7406640" y="24688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7635240" y="26974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6"/>
          <p:cNvSpPr/>
          <p:nvPr/>
        </p:nvSpPr>
        <p:spPr>
          <a:xfrm>
            <a:off x="76352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75320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targeted offers for under-indexed groups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Top Products &amp; Discount Dependence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BF5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F3C7E"/>
                </a:solidFill>
              </a:rPr>
              <a:t>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2148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Top Rated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30175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icon_glo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1810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31920" y="3017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~3.8 ★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36118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12" name="Image 1" descr="icon_sand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71246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611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931920" y="3611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~3.8 ★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05840" y="420624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16" name="Image 2" descr="icon_bo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068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06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931920" y="4206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~3.8 ★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1005840" y="48006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20" name="Image 3" descr="icon_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90118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800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931920" y="4800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~3.8 ★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1005840" y="539496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24" name="Image 4" descr="icon_ski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495544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00200" y="5394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3931920" y="5394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~3.8 ★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217920" y="173736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BF5"/>
          </a:solidFill>
          <a:ln/>
        </p:spPr>
      </p:sp>
      <p:sp>
        <p:nvSpPr>
          <p:cNvPr id="28" name="Shape 21"/>
          <p:cNvSpPr/>
          <p:nvPr/>
        </p:nvSpPr>
        <p:spPr>
          <a:xfrm>
            <a:off x="6583680" y="21031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Text 22"/>
          <p:cNvSpPr/>
          <p:nvPr/>
        </p:nvSpPr>
        <p:spPr>
          <a:xfrm>
            <a:off x="65836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%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740664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Discount-Dependent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6583680" y="3017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8229600" y="3127248"/>
            <a:ext cx="2926080" cy="237744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33" name="Shape 26"/>
          <p:cNvSpPr/>
          <p:nvPr/>
        </p:nvSpPr>
        <p:spPr>
          <a:xfrm>
            <a:off x="8229600" y="3127248"/>
            <a:ext cx="2926080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4" name="Text 27"/>
          <p:cNvSpPr/>
          <p:nvPr/>
        </p:nvSpPr>
        <p:spPr>
          <a:xfrm>
            <a:off x="8229600" y="29900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50.00%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58368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229600" y="3721608"/>
            <a:ext cx="2926080" cy="237744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37" name="Shape 30"/>
          <p:cNvSpPr/>
          <p:nvPr/>
        </p:nvSpPr>
        <p:spPr>
          <a:xfrm>
            <a:off x="8229600" y="3721608"/>
            <a:ext cx="2906183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8" name="Text 31"/>
          <p:cNvSpPr/>
          <p:nvPr/>
        </p:nvSpPr>
        <p:spPr>
          <a:xfrm>
            <a:off x="8229600" y="3584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49.66%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58368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8229600" y="4315968"/>
            <a:ext cx="2926080" cy="237744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41" name="Shape 34"/>
          <p:cNvSpPr/>
          <p:nvPr/>
        </p:nvSpPr>
        <p:spPr>
          <a:xfrm>
            <a:off x="8229600" y="4315968"/>
            <a:ext cx="2871655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42" name="Text 35"/>
          <p:cNvSpPr/>
          <p:nvPr/>
        </p:nvSpPr>
        <p:spPr>
          <a:xfrm>
            <a:off x="8229600" y="4178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49.07%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6583680" y="4800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8229600" y="4910328"/>
            <a:ext cx="2926080" cy="237744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45" name="Shape 38"/>
          <p:cNvSpPr/>
          <p:nvPr/>
        </p:nvSpPr>
        <p:spPr>
          <a:xfrm>
            <a:off x="8229600" y="4910328"/>
            <a:ext cx="2818985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46" name="Text 39"/>
          <p:cNvSpPr/>
          <p:nvPr/>
        </p:nvSpPr>
        <p:spPr>
          <a:xfrm>
            <a:off x="8229600" y="47731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48.17%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6583680" y="5394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8229600" y="5504688"/>
            <a:ext cx="2926080" cy="237744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49" name="Shape 42"/>
          <p:cNvSpPr/>
          <p:nvPr/>
        </p:nvSpPr>
        <p:spPr>
          <a:xfrm>
            <a:off x="8229600" y="5504688"/>
            <a:ext cx="2772168" cy="23774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0" name="Text 43"/>
          <p:cNvSpPr/>
          <p:nvPr/>
        </p:nvSpPr>
        <p:spPr>
          <a:xfrm>
            <a:off x="8229600" y="53675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47.37%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2" y="66751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292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Segments &amp; Loyalty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9E79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03120" y="2240280"/>
            <a:ext cx="731520" cy="7315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200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3,116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Loyal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0" y="22402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0" y="3200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701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38912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Returning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8912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0" y="192024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8FA3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35440" y="2240280"/>
            <a:ext cx="731520" cy="731520"/>
          </a:xfrm>
          <a:prstGeom prst="ellipse">
            <a:avLst/>
          </a:prstGeom>
          <a:solidFill>
            <a:srgbClr val="8FA3D9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0" y="32004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83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795528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3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5528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loyalty program focus to convert Returning → Loyal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946904" y="6126480"/>
            <a:ext cx="585216" cy="58521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B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67528" y="6126480"/>
            <a:ext cx="585216" cy="585216"/>
          </a:xfrm>
          <a:prstGeom prst="ellipse">
            <a:avLst/>
          </a:prstGeom>
          <a:solidFill>
            <a:srgbClr val="F9E795"/>
          </a:solidFill>
          <a:ln w="25400">
            <a:solidFill>
              <a:srgbClr val="FFFB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88152" y="6126480"/>
            <a:ext cx="585216" cy="585216"/>
          </a:xfrm>
          <a:prstGeom prst="ellipse">
            <a:avLst/>
          </a:prstGeom>
          <a:solidFill>
            <a:srgbClr val="8FA3D9"/>
          </a:solidFill>
          <a:ln w="25400">
            <a:solidFill>
              <a:srgbClr val="FFFB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08776" y="6126480"/>
            <a:ext cx="585216" cy="585216"/>
          </a:xfrm>
          <a:prstGeom prst="ellipse">
            <a:avLst/>
          </a:prstGeom>
          <a:solidFill>
            <a:srgbClr val="2F3C7E"/>
          </a:solidFill>
          <a:ln w="25400">
            <a:solidFill>
              <a:srgbClr val="FFFBF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29400" y="6126480"/>
            <a:ext cx="585216" cy="58521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B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 Groups &amp; Revenue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4592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9808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High-revenue targets: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9808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Young Adult &amp; Middle-aged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0" y="320040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33832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segments together drive the largest share of revenue — prioritize campaigns and inventory around their preferences.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63840" y="5074920"/>
            <a:ext cx="1371600" cy="1600200"/>
          </a:xfrm>
          <a:prstGeom prst="roundRect">
            <a:avLst>
              <a:gd name="adj" fmla="val 10667"/>
            </a:avLst>
          </a:prstGeom>
          <a:solidFill>
            <a:srgbClr val="2B2B2B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7848" y="5193792"/>
            <a:ext cx="1243584" cy="1362456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927848" y="5193792"/>
            <a:ext cx="1243584" cy="20116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Shape 8"/>
          <p:cNvSpPr/>
          <p:nvPr/>
        </p:nvSpPr>
        <p:spPr>
          <a:xfrm>
            <a:off x="8065008" y="5513832"/>
            <a:ext cx="372794" cy="372794"/>
          </a:xfrm>
          <a:prstGeom prst="roundRect">
            <a:avLst>
              <a:gd name="adj" fmla="val 19623"/>
            </a:avLst>
          </a:prstGeom>
          <a:solidFill>
            <a:srgbClr val="F96167"/>
          </a:solidFill>
          <a:ln/>
        </p:spPr>
      </p:sp>
      <p:sp>
        <p:nvSpPr>
          <p:cNvPr id="12" name="Shape 9"/>
          <p:cNvSpPr/>
          <p:nvPr/>
        </p:nvSpPr>
        <p:spPr>
          <a:xfrm>
            <a:off x="8565818" y="5513832"/>
            <a:ext cx="372794" cy="372794"/>
          </a:xfrm>
          <a:prstGeom prst="roundRect">
            <a:avLst>
              <a:gd name="adj" fmla="val 19623"/>
            </a:avLst>
          </a:prstGeom>
          <a:solidFill>
            <a:srgbClr val="F9E795"/>
          </a:solidFill>
          <a:ln/>
        </p:spPr>
      </p:sp>
      <p:sp>
        <p:nvSpPr>
          <p:cNvPr id="13" name="Shape 10"/>
          <p:cNvSpPr/>
          <p:nvPr/>
        </p:nvSpPr>
        <p:spPr>
          <a:xfrm>
            <a:off x="8065008" y="6014642"/>
            <a:ext cx="372794" cy="372794"/>
          </a:xfrm>
          <a:prstGeom prst="roundRect">
            <a:avLst>
              <a:gd name="adj" fmla="val 19623"/>
            </a:avLst>
          </a:prstGeom>
          <a:solidFill>
            <a:srgbClr val="2F3C7E"/>
          </a:solidFill>
          <a:ln/>
        </p:spPr>
      </p:sp>
      <p:sp>
        <p:nvSpPr>
          <p:cNvPr id="14" name="Shape 11"/>
          <p:cNvSpPr/>
          <p:nvPr/>
        </p:nvSpPr>
        <p:spPr>
          <a:xfrm>
            <a:off x="8565818" y="6014642"/>
            <a:ext cx="372794" cy="372794"/>
          </a:xfrm>
          <a:prstGeom prst="roundRect">
            <a:avLst>
              <a:gd name="adj" fmla="val 19623"/>
            </a:avLst>
          </a:prstGeom>
          <a:solidFill>
            <a:srgbClr val="8FA3D9"/>
          </a:solidFill>
          <a:ln/>
        </p:spPr>
      </p:sp>
      <p:sp>
        <p:nvSpPr>
          <p:cNvPr id="15" name="Text 12"/>
          <p:cNvSpPr/>
          <p:nvPr/>
        </p:nvSpPr>
        <p:spPr>
          <a:xfrm>
            <a:off x="9372600" y="5623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shopping activity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11480"/>
            <a:ext cx="914400" cy="9144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2" y="6217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Metrics &amp; Dashboard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FFFB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65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3.9K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069080" y="173736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FFFBF5"/>
          </a:solidFill>
          <a:ln/>
        </p:spPr>
      </p:sp>
      <p:sp>
        <p:nvSpPr>
          <p:cNvPr id="9" name="Text 6"/>
          <p:cNvSpPr/>
          <p:nvPr/>
        </p:nvSpPr>
        <p:spPr>
          <a:xfrm>
            <a:off x="4069080" y="1965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$59.76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06908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498080" y="173736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FFFBF5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0" y="1965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4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3.75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49808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Subscription Split</a:t>
            </a:r>
            <a:endParaRPr lang="en-US" sz="16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420624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1691640" y="4846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27%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20640" y="3931920"/>
            <a:ext cx="6309360" cy="2651760"/>
          </a:xfrm>
          <a:prstGeom prst="roundRect">
            <a:avLst>
              <a:gd name="adj" fmla="val 4138"/>
            </a:avLst>
          </a:prstGeom>
          <a:solidFill>
            <a:srgbClr val="2F3C7E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Snapshot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486400" y="46177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total customers across the dataset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 average purchase amount per transaction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average review rating (out of 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customers hold an active subscription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Recommendations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154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subscriber benefits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77640" y="1737360"/>
            <a:ext cx="3154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19659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2971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repeat buyers to grow the Loyal segment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0" y="1737360"/>
            <a:ext cx="3154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43800" y="1965960"/>
            <a:ext cx="457200" cy="457200"/>
          </a:xfrm>
          <a:prstGeom prst="ellipse">
            <a:avLst/>
          </a:prstGeom>
          <a:solidFill>
            <a:srgbClr val="D9A400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2560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Review Discounts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43800" y="2971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promotions with margin control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3154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top-rated &amp; best-selling items in campaigns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977640" y="4023360"/>
            <a:ext cx="3154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42519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06240" y="48463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06240" y="5257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high-revenue age groups &amp; express-shipping users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2026-08-23T07:17:25Z</dcterms:created>
  <dcterms:modified xsi:type="dcterms:W3CDTF">2026-08-23T07:17:25Z</dcterms:modified>
</cp:coreProperties>
</file>